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3"/>
  </p:notesMasterIdLst>
  <p:sldIdLst>
    <p:sldId id="256" r:id="rId2"/>
    <p:sldId id="260" r:id="rId3"/>
    <p:sldId id="261" r:id="rId4"/>
    <p:sldId id="262" r:id="rId5"/>
    <p:sldId id="273" r:id="rId6"/>
    <p:sldId id="275" r:id="rId7"/>
    <p:sldId id="276" r:id="rId8"/>
    <p:sldId id="277" r:id="rId9"/>
    <p:sldId id="278" r:id="rId10"/>
    <p:sldId id="268" r:id="rId11"/>
    <p:sldId id="272" r:id="rId12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BC50D8-00C2-4B55-89BD-E62906BFA9D7}">
  <a:tblStyle styleId="{C4BC50D8-00C2-4B55-89BD-E62906BFA9D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9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3356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0961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8182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8903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2609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1" name="Google Shape;6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5" name="Google Shape;7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2">
  <p:cSld name="TITLE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25" name="Google Shape;2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5">
            <a:extLst>
              <a:ext uri="{FF2B5EF4-FFF2-40B4-BE49-F238E27FC236}">
                <a16:creationId xmlns:a16="http://schemas.microsoft.com/office/drawing/2014/main" id="{37AC507C-8FA4-802C-085F-69A6CF4CEA2A}"/>
              </a:ext>
            </a:extLst>
          </p:cNvPr>
          <p:cNvSpPr txBox="1"/>
          <p:nvPr/>
        </p:nvSpPr>
        <p:spPr>
          <a:xfrm>
            <a:off x="1223170" y="757244"/>
            <a:ext cx="6593299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Título</a:t>
            </a:r>
            <a:endParaRPr kumimoji="0" lang="es-CO" sz="5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6" name="CuadroTexto 6">
            <a:extLst>
              <a:ext uri="{FF2B5EF4-FFF2-40B4-BE49-F238E27FC236}">
                <a16:creationId xmlns:a16="http://schemas.microsoft.com/office/drawing/2014/main" id="{5BBD72BC-550D-2CC5-9CC7-6561AB61E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691" y="1470030"/>
            <a:ext cx="681768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s-ES" altLang="es-CO" sz="4400" b="1" dirty="0">
                <a:solidFill>
                  <a:srgbClr val="FFD966"/>
                </a:solidFill>
                <a:latin typeface="Calibri Light" panose="020F0302020204030204" pitchFamily="34" charset="0"/>
              </a:rPr>
              <a:t>Nombres</a:t>
            </a:r>
            <a:endParaRPr lang="es-CO" altLang="es-CO" sz="4400" b="1" dirty="0">
              <a:solidFill>
                <a:srgbClr val="FFD966"/>
              </a:solidFill>
              <a:latin typeface="Calibri Light" panose="020F0302020204030204" pitchFamily="34" charset="0"/>
            </a:endParaRPr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5D7D8A4E-9824-9DA9-EEF1-826A7FF5A812}"/>
              </a:ext>
            </a:extLst>
          </p:cNvPr>
          <p:cNvSpPr txBox="1"/>
          <p:nvPr/>
        </p:nvSpPr>
        <p:spPr>
          <a:xfrm>
            <a:off x="1397628" y="3879947"/>
            <a:ext cx="6817684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0" cap="none" spc="8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Ejemplo: </a:t>
            </a:r>
            <a:r>
              <a:rPr kumimoji="0" lang="es-ES" sz="1200" b="1" i="0" u="none" strike="noStrike" kern="0" cap="none" spc="8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Institución Educativa </a:t>
            </a:r>
            <a:r>
              <a:rPr kumimoji="0" lang="es-ES" sz="1200" b="1" i="0" u="none" strike="noStrike" kern="0" cap="none" spc="80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xxxxxxxxxxxxx</a:t>
            </a:r>
            <a:endParaRPr kumimoji="0" lang="es-ES" sz="1200" b="1" i="0" u="none" strike="noStrike" kern="0" cap="none" spc="8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0" cap="none" spc="8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Programa de formación:</a:t>
            </a:r>
            <a:r>
              <a:rPr kumimoji="0" lang="es-ES" sz="1200" b="1" i="0" u="none" strike="noStrike" kern="0" cap="none" spc="8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s-ES" sz="1200" b="1" i="0" u="none" strike="noStrike" kern="0" cap="none" spc="80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xxxxxxxxxx</a:t>
            </a:r>
            <a:endParaRPr kumimoji="0" lang="es-ES" sz="1200" b="1" i="0" u="none" strike="noStrike" kern="0" cap="none" spc="8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0" cap="none" spc="8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Grado: </a:t>
            </a:r>
            <a:r>
              <a:rPr kumimoji="0" lang="es-ES" sz="1200" b="1" i="0" u="none" strike="noStrike" kern="0" cap="none" spc="80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xx</a:t>
            </a:r>
            <a:r>
              <a:rPr kumimoji="0" lang="es-ES" sz="1200" b="1" i="0" u="none" strike="noStrike" kern="0" cap="none" spc="8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°</a:t>
            </a:r>
            <a:endParaRPr kumimoji="0" lang="es-CO" sz="1200" b="1" i="0" u="none" strike="noStrike" kern="0" cap="none" spc="8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79D08650-41A2-C8E2-1846-2874D22F07B6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6357261" y="371753"/>
            <a:ext cx="2569028" cy="13088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942E35-5F17-EDA7-B0D4-83F5B69DA07A}"/>
              </a:ext>
            </a:extLst>
          </p:cNvPr>
          <p:cNvSpPr txBox="1"/>
          <p:nvPr/>
        </p:nvSpPr>
        <p:spPr>
          <a:xfrm>
            <a:off x="4659086" y="3479837"/>
            <a:ext cx="30872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Formar- Servir - Cuidar</a:t>
            </a:r>
            <a:endParaRPr lang="es-CO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4;p2">
            <a:extLst>
              <a:ext uri="{FF2B5EF4-FFF2-40B4-BE49-F238E27FC236}">
                <a16:creationId xmlns:a16="http://schemas.microsoft.com/office/drawing/2014/main" id="{E21A2A5D-0176-E205-C836-7C6BC73F3E26}"/>
              </a:ext>
            </a:extLst>
          </p:cNvPr>
          <p:cNvSpPr txBox="1"/>
          <p:nvPr/>
        </p:nvSpPr>
        <p:spPr>
          <a:xfrm>
            <a:off x="3825657" y="3294894"/>
            <a:ext cx="483256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 PROPUESTA P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ROYECTO INTEGRADOR DE AULA -PIA-</a:t>
            </a:r>
            <a:endParaRPr sz="3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3.jpg">
            <a:extLst>
              <a:ext uri="{FF2B5EF4-FFF2-40B4-BE49-F238E27FC236}">
                <a16:creationId xmlns:a16="http://schemas.microsoft.com/office/drawing/2014/main" id="{ABF071AA-8CB0-D6F7-FE56-495288F771E7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4851921" y="968912"/>
            <a:ext cx="3085319" cy="15696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79950" y="98432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PROBLEMA O </a:t>
            </a:r>
            <a:r>
              <a:rPr lang="es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sz="3400" b="1" i="0" u="none" strike="noStrike" cap="none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1044666" y="1940597"/>
            <a:ext cx="7054667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Planteamiento y acotamiento del problema y su justificación en términos de necesidades y pertinencia. El problema o necesidad pueden ser de orden investigativo, de desarrollo, apropiación, evaluación, desarrollo de necesidades institucionales o mejora de una tecnología. También puede estar ligado a una iniciativa de emprendimiento o al desarrollo de un sistema de aplicación social o institucional. Se debe dejar claro lo que se va a hacer y por qué razón se va a hacer.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2914684C-8741-0C88-7AE6-1B5B34A05FF0}"/>
              </a:ext>
            </a:extLst>
          </p:cNvPr>
          <p:cNvPicPr/>
          <p:nvPr/>
        </p:nvPicPr>
        <p:blipFill rotWithShape="1">
          <a:blip r:embed="rId6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"/>
          <p:cNvSpPr/>
          <p:nvPr/>
        </p:nvSpPr>
        <p:spPr>
          <a:xfrm>
            <a:off x="4450499" y="2958005"/>
            <a:ext cx="1403700" cy="1403700"/>
          </a:xfrm>
          <a:prstGeom prst="ellipse">
            <a:avLst/>
          </a:prstGeom>
          <a:solidFill>
            <a:srgbClr val="01B3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5473" y="1622224"/>
            <a:ext cx="3303600" cy="2203800"/>
          </a:xfrm>
          <a:prstGeom prst="foldedCorner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03" name="Google Shape;50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4925" y="1055400"/>
            <a:ext cx="1293851" cy="1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4150" y="3924100"/>
            <a:ext cx="69672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6"/>
          <p:cNvSpPr txBox="1"/>
          <p:nvPr/>
        </p:nvSpPr>
        <p:spPr>
          <a:xfrm>
            <a:off x="793450" y="898788"/>
            <a:ext cx="38100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3400" b="0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MARCO TEÓRICO Y ESTADO </a:t>
            </a:r>
            <a:r>
              <a:rPr lang="es-ES" sz="3400" b="1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Y ESTADO DEL ARTE</a:t>
            </a:r>
          </a:p>
        </p:txBody>
      </p:sp>
      <p:cxnSp>
        <p:nvCxnSpPr>
          <p:cNvPr id="506" name="Google Shape;506;p16"/>
          <p:cNvCxnSpPr/>
          <p:nvPr/>
        </p:nvCxnSpPr>
        <p:spPr>
          <a:xfrm>
            <a:off x="793450" y="2403750"/>
            <a:ext cx="3571500" cy="0"/>
          </a:xfrm>
          <a:prstGeom prst="straightConnector1">
            <a:avLst/>
          </a:prstGeom>
          <a:noFill/>
          <a:ln w="9525" cap="flat" cmpd="sng">
            <a:solidFill>
              <a:srgbClr val="01B3C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507" name="Google Shape;507;p16"/>
          <p:cNvSpPr txBox="1"/>
          <p:nvPr/>
        </p:nvSpPr>
        <p:spPr>
          <a:xfrm>
            <a:off x="743444" y="3254600"/>
            <a:ext cx="3347100" cy="1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700" b="0" i="0" u="none" strike="noStrike" cap="none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Abordaje breve de los principales aspectos teóricos que respaldan el proyecto (Conceptos, leyes, principios, fundamentos, etc.).  Descripción de tecnologías y desarrollos similares tomados como referente o punto de partida para ejecución del proyecto. </a:t>
            </a:r>
            <a:r>
              <a:rPr lang="es-ES" sz="17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(Elaboración opcional)</a:t>
            </a: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164BFC53-E411-163F-D7D2-ED799F8F0811}"/>
              </a:ext>
            </a:extLst>
          </p:cNvPr>
          <p:cNvPicPr/>
          <p:nvPr/>
        </p:nvPicPr>
        <p:blipFill rotWithShape="1">
          <a:blip r:embed="rId7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CO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OBJETIVOS D</a:t>
            </a:r>
            <a:r>
              <a:rPr lang="es-CO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421481" y="1213706"/>
            <a:ext cx="8376374" cy="370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s-ES" sz="1600" i="1" dirty="0">
                <a:latin typeface="Arial Narrow" panose="020B0606020202030204" pitchFamily="34" charset="0"/>
              </a:rPr>
              <a:t>Los objetivos son los resultados deseados que se esperan alcanzar con la ejecución de las actividades que integran un proyecto. Deben ser medibles o cuantificables, realistas, limitados en el tiempo, realizables y precisos. Con base en los objetivos se realiza la evaluación de éxito o fracaso del proyecto. Son la ruta o guía de las actividades a realizar, por lo que dan direccionalidad al proyecto. 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s-ES" sz="1600" i="1" dirty="0">
                <a:latin typeface="Arial Narrow" panose="020B0606020202030204" pitchFamily="34" charset="0"/>
              </a:rPr>
              <a:t>Los objetivos deben mostrar una relación clara y consistente con la descripción del problema y, específicamente, con las preguntas o hipótesis que se quieren resolver. La formulación de objetivos claros y viables constituye una base importante para juzgar el resto de la propuesta y, además, facilita la estructuración de la metodología.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s-ES" sz="1600" i="1" dirty="0">
                <a:latin typeface="Arial Narrow" panose="020B0606020202030204" pitchFamily="34" charset="0"/>
              </a:rPr>
              <a:t>Se deben diferenciar claramente el objetivo general y los objetivos específicos. 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s-ES" sz="1600" i="1" dirty="0">
                <a:latin typeface="Arial Narrow" panose="020B0606020202030204" pitchFamily="34" charset="0"/>
              </a:rPr>
              <a:t>Para plantear los objetivos se deben responder las siguientes preguntas: ¿Qué quiero hacer?, ¿Por qué lo quiero o debo hacer?, ¿Cómo lo voy a hacer?, ¿Cuando lo voy a hacer?, ¿Cómo lo voy a hacer? 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s-ES" sz="1600" i="1" dirty="0">
                <a:latin typeface="Arial Narrow" panose="020B0606020202030204" pitchFamily="34" charset="0"/>
              </a:rPr>
              <a:t>Los objetivos responden a la siguiente estructura: </a:t>
            </a:r>
            <a:r>
              <a:rPr lang="es-ES" sz="1600" i="1" dirty="0">
                <a:solidFill>
                  <a:srgbClr val="FF0000"/>
                </a:solidFill>
                <a:latin typeface="Arial Narrow" panose="020B0606020202030204" pitchFamily="34" charset="0"/>
              </a:rPr>
              <a:t>Verbo en infinitivo </a:t>
            </a:r>
            <a:r>
              <a:rPr lang="es-ES" sz="1600" i="1" dirty="0">
                <a:latin typeface="Arial Narrow" panose="020B0606020202030204" pitchFamily="34" charset="0"/>
              </a:rPr>
              <a:t>+ </a:t>
            </a:r>
            <a:r>
              <a:rPr lang="es-ES" sz="1600" i="1" dirty="0">
                <a:solidFill>
                  <a:schemeClr val="accent1"/>
                </a:solidFill>
                <a:latin typeface="Arial Narrow" panose="020B0606020202030204" pitchFamily="34" charset="0"/>
              </a:rPr>
              <a:t>Sujeto</a:t>
            </a:r>
            <a:r>
              <a:rPr lang="es-ES" sz="1600" i="1" dirty="0">
                <a:latin typeface="Arial Narrow" panose="020B0606020202030204" pitchFamily="34" charset="0"/>
              </a:rPr>
              <a:t> + </a:t>
            </a:r>
            <a:r>
              <a:rPr lang="es-ES" sz="1600" i="1" dirty="0">
                <a:solidFill>
                  <a:schemeClr val="accent4"/>
                </a:solidFill>
                <a:latin typeface="Arial Narrow" panose="020B0606020202030204" pitchFamily="34" charset="0"/>
              </a:rPr>
              <a:t>Condición</a:t>
            </a:r>
            <a:r>
              <a:rPr lang="es-ES" sz="1600" i="1" dirty="0">
                <a:latin typeface="Arial Narrow" panose="020B0606020202030204" pitchFamily="34" charset="0"/>
              </a:rPr>
              <a:t> + </a:t>
            </a:r>
            <a:r>
              <a:rPr lang="es-ES" sz="1600" i="1" dirty="0">
                <a:solidFill>
                  <a:schemeClr val="accent6"/>
                </a:solidFill>
                <a:latin typeface="Arial Narrow" panose="020B0606020202030204" pitchFamily="34" charset="0"/>
              </a:rPr>
              <a:t>Recurso 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s-CO" sz="1600" i="1" dirty="0">
                <a:latin typeface="Arial Narrow" panose="020B0606020202030204" pitchFamily="34" charset="0"/>
              </a:rPr>
              <a:t>Ejemplo: </a:t>
            </a:r>
            <a:r>
              <a:rPr lang="es-CO" sz="1600" i="1" dirty="0">
                <a:solidFill>
                  <a:srgbClr val="FF0000"/>
                </a:solidFill>
                <a:latin typeface="Arial Narrow" panose="020B0606020202030204" pitchFamily="34" charset="0"/>
              </a:rPr>
              <a:t>Determinar </a:t>
            </a:r>
            <a:r>
              <a:rPr lang="es-CO" sz="1600" i="1" dirty="0">
                <a:latin typeface="Arial Narrow" panose="020B0606020202030204" pitchFamily="34" charset="0"/>
              </a:rPr>
              <a:t>el </a:t>
            </a:r>
            <a:r>
              <a:rPr lang="es-CO" sz="1600" i="1" dirty="0">
                <a:solidFill>
                  <a:schemeClr val="accent1"/>
                </a:solidFill>
                <a:latin typeface="Arial Narrow" panose="020B0606020202030204" pitchFamily="34" charset="0"/>
              </a:rPr>
              <a:t>rango de operación estable de un motor HCCI </a:t>
            </a:r>
            <a:r>
              <a:rPr lang="es-CO" sz="1600" i="1" dirty="0">
                <a:latin typeface="Arial Narrow" panose="020B0606020202030204" pitchFamily="34" charset="0"/>
              </a:rPr>
              <a:t>que </a:t>
            </a:r>
            <a:r>
              <a:rPr lang="es-CO" sz="1600" i="1" dirty="0">
                <a:solidFill>
                  <a:schemeClr val="accent4"/>
                </a:solidFill>
                <a:latin typeface="Arial Narrow" panose="020B0606020202030204" pitchFamily="34" charset="0"/>
              </a:rPr>
              <a:t>utiliza gas de síntesis de bajo poder calorífico </a:t>
            </a:r>
            <a:r>
              <a:rPr lang="es-CO" sz="1600" i="1" dirty="0">
                <a:solidFill>
                  <a:schemeClr val="accent6"/>
                </a:solidFill>
                <a:latin typeface="Arial Narrow" panose="020B0606020202030204" pitchFamily="34" charset="0"/>
              </a:rPr>
              <a:t>a partir de un modelo cero dimensional con cinética química detallada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D4A1449B-7FD9-EC6B-8AE0-5738E142903C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412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CO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METODO</a:t>
            </a:r>
            <a:r>
              <a:rPr lang="es-CO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LOGÍA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860822" y="1563750"/>
            <a:ext cx="7422356" cy="241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altLang="es-C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cs typeface="Arial"/>
                <a:sym typeface="Arial"/>
              </a:rPr>
              <a:t>Breve descripción </a:t>
            </a:r>
            <a:r>
              <a:rPr kumimoji="0" lang="es-ES" altLang="es-CO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cs typeface="Arial"/>
                <a:sym typeface="Arial"/>
              </a:rPr>
              <a:t>paso a paso</a:t>
            </a:r>
            <a:r>
              <a:rPr kumimoji="0" lang="es-ES" altLang="es-C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cs typeface="Arial"/>
                <a:sym typeface="Arial"/>
              </a:rPr>
              <a:t> de las actividades que se desarrollaran para dar solución a los objetivos del proyecto. Se debe hacer una diferenciación entre los objetivos y las actividades que ayudan a dar cumplimiento a cada objetivo.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altLang="es-C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cs typeface="Arial"/>
                <a:sym typeface="Arial"/>
              </a:rPr>
              <a:t>Para plantear una metodología se recomienda dividir el proyecto en etapas (objetivos específicos) y hacer una descripción de actividades relacionando los recursos económicos, físicos, de personal y de tiempo que son necesarios para llevarlos a cabo. También es importante considerar un entregable que por cada actividad dé cuenta del cumplimiento de esta.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991F2E8A-87B5-8980-B181-49289935802F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8187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6664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s-CO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ESULTADOS Y PRODU</a:t>
            </a:r>
            <a:r>
              <a:rPr lang="es-CO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CTOS ESPERADOS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725459" y="1885219"/>
            <a:ext cx="7422356" cy="1554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altLang="es-C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cs typeface="Arial"/>
                <a:sym typeface="Arial"/>
              </a:rPr>
              <a:t>Descripción de posibles productos a alcanzar con el desarrollo del proyecto. Ejemplo: idea de emprendimiento, desarrollo de prototipos funcionales de 1°, 2°o 3° nivel de complejidad,  plan de medios, producciones para la Institución Educativa tales como: Periódico Institucional, Revista Institucional, mejora en las instalaciones eléctricas por ejemplo, según el programa de formación.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F09F653C-4155-EB92-C018-3EEE9E7FD3EA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3670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CRONO</a:t>
            </a:r>
            <a:r>
              <a:rPr lang="es-ES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GRAMA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725459" y="1895874"/>
            <a:ext cx="7422356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CO" altLang="es-CO" sz="1800" dirty="0">
                <a:latin typeface="Calibri Light" panose="020F0302020204030204" pitchFamily="34" charset="0"/>
              </a:rPr>
              <a:t>Este debe ser acorde con el desarrollo de las unidades de aprendizaje de cada programa de Técnica Laboral respectivo. El cronograma será presentado de común acuerdo entre docentes y estudiantes y de acuerdo a las instrucciones de la Coordinación Académica en cada caso.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EDF22F87-D309-3D63-BD99-560DC08BD35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8643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BIBLIO</a:t>
            </a:r>
            <a:r>
              <a:rPr lang="es-ES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GRAFÍA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725459" y="1895874"/>
            <a:ext cx="7422356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CO" altLang="es-CO" sz="1800" dirty="0">
                <a:latin typeface="Calibri Light" panose="020F0302020204030204" pitchFamily="34" charset="0"/>
              </a:rPr>
              <a:t>Presentación de las fuentes bibliográficas que sirvieron de apoyo para la construcción y desarrollo de la propuesta (mínimo 5 referencias). Utilizar formato APA.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34D2BEB8-8839-8BBE-F48F-EB12265410F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1622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2"/>
          <p:cNvSpPr/>
          <p:nvPr/>
        </p:nvSpPr>
        <p:spPr>
          <a:xfrm>
            <a:off x="4768525" y="2956222"/>
            <a:ext cx="1293300" cy="1293300"/>
          </a:xfrm>
          <a:prstGeom prst="ellipse">
            <a:avLst/>
          </a:prstGeom>
          <a:solidFill>
            <a:srgbClr val="ACE5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7" name="Google Shape;65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7946" y="1154050"/>
            <a:ext cx="3643028" cy="30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22"/>
          <p:cNvPicPr preferRelativeResize="0"/>
          <p:nvPr/>
        </p:nvPicPr>
        <p:blipFill rotWithShape="1">
          <a:blip r:embed="rId5">
            <a:alphaModFix/>
          </a:blip>
          <a:srcRect l="9033" t="9933" b="12335"/>
          <a:stretch/>
        </p:blipFill>
        <p:spPr>
          <a:xfrm>
            <a:off x="5381885" y="1488969"/>
            <a:ext cx="2975078" cy="1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0194" y="3867257"/>
            <a:ext cx="826981" cy="1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2"/>
          <p:cNvSpPr txBox="1"/>
          <p:nvPr/>
        </p:nvSpPr>
        <p:spPr>
          <a:xfrm>
            <a:off x="678450" y="806098"/>
            <a:ext cx="381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3400" b="0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sz="3400" b="1" i="0" u="none" strike="noStrike" cap="none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 txBox="1"/>
          <p:nvPr/>
        </p:nvSpPr>
        <p:spPr>
          <a:xfrm>
            <a:off x="762000" y="2026375"/>
            <a:ext cx="3642900" cy="1492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NOMBRES Y APELLIDOS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 txBox="1"/>
          <p:nvPr/>
        </p:nvSpPr>
        <p:spPr>
          <a:xfrm>
            <a:off x="882375" y="3873925"/>
            <a:ext cx="8661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1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1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5A767EC3-0C2B-27D0-A6FC-572AE869C041}"/>
              </a:ext>
            </a:extLst>
          </p:cNvPr>
          <p:cNvPicPr/>
          <p:nvPr/>
        </p:nvPicPr>
        <p:blipFill rotWithShape="1">
          <a:blip r:embed="rId7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jpg">
            <a:extLst>
              <a:ext uri="{FF2B5EF4-FFF2-40B4-BE49-F238E27FC236}">
                <a16:creationId xmlns:a16="http://schemas.microsoft.com/office/drawing/2014/main" id="{AA2B868A-41CF-6C4D-1FD6-6278E87C849E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7595116" y="106759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F6FD4A4-6F4B-3E48-6660-19B52ECBAFD6}"/>
              </a:ext>
            </a:extLst>
          </p:cNvPr>
          <p:cNvSpPr txBox="1"/>
          <p:nvPr/>
        </p:nvSpPr>
        <p:spPr>
          <a:xfrm>
            <a:off x="1822580" y="3293225"/>
            <a:ext cx="30872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Formar- Servir - Cuidar</a:t>
            </a:r>
            <a:endParaRPr lang="es-CO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15583"/>
      </a:dk1>
      <a:lt1>
        <a:srgbClr val="FFFFFF"/>
      </a:lt1>
      <a:dk2>
        <a:srgbClr val="434343"/>
      </a:dk2>
      <a:lt2>
        <a:srgbClr val="EEEEEE"/>
      </a:lt2>
      <a:accent1>
        <a:srgbClr val="05AD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662</Words>
  <Application>Microsoft Office PowerPoint</Application>
  <PresentationFormat>Presentación en pantalla (16:9)</PresentationFormat>
  <Paragraphs>33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Calibri Light</vt:lpstr>
      <vt:lpstr>Arial</vt:lpstr>
      <vt:lpstr>Calibri</vt:lpstr>
      <vt:lpstr>Arial Narrow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Natalia Andrea Saldarriaga</dc:creator>
  <cp:lastModifiedBy>user</cp:lastModifiedBy>
  <cp:revision>3</cp:revision>
  <dcterms:modified xsi:type="dcterms:W3CDTF">2026-04-22T02:59:09Z</dcterms:modified>
</cp:coreProperties>
</file>